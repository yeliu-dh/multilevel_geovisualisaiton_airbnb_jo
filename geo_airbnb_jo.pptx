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1" r:id="rId5"/>
    <p:sldId id="263" r:id="rId6"/>
    <p:sldId id="258" r:id="rId7"/>
    <p:sldId id="266" r:id="rId8"/>
    <p:sldId id="260" r:id="rId9"/>
    <p:sldId id="259" r:id="rId10"/>
    <p:sldId id="265" r:id="rId11"/>
    <p:sldId id="26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68" autoAdjust="0"/>
    <p:restoredTop sz="94660"/>
  </p:normalViewPr>
  <p:slideViewPr>
    <p:cSldViewPr snapToGrid="0">
      <p:cViewPr varScale="1">
        <p:scale>
          <a:sx n="85" d="100"/>
          <a:sy n="85" d="100"/>
        </p:scale>
        <p:origin x="67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3566-D890-4F39-BE72-96E4DDB10862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D327F-AE32-48F8-B79E-B95D179857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57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D327F-AE32-48F8-B79E-B95D179857C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479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55DE4-BE2D-4043-65F5-7ADB82361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1F2437-DD9B-F6F7-2FA4-AB55FEE00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AFA10A-E95C-8F85-7EF8-59638E6F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232D06-9677-BC5D-A182-FBF9BBCD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20A82-F5D6-3EB3-5B31-7619CC48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852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D57F5-F17A-1326-F3AF-3CB99522A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4EBD0-D182-E2FB-42E9-565D493D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59AE7-CFD3-32C2-CDE3-3E4BE07C7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5F2AE5-5D1B-C175-8966-FC60A33F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C3F9DF-DB9A-89FC-6275-9C8CF9645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21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3397F0-8772-FCCC-9C30-2518BC80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2EFE71-083A-0462-0958-C91F1FE08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55DFAA-C77A-EFA0-3529-9AA6FADE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64658-8A04-9368-C37D-D1F93525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CA3CAB-9212-067B-8159-9180A14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6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9DD93-A296-E586-4ABB-7FAD30B2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6F8FBB-E7D1-9EC6-AFDA-B320F5B86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768FF4-B475-EF6D-8236-C360E4608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4144CB-8EE1-E09A-F1A9-EB064620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15C6D2-9F42-E7A6-E8EF-86E0DB61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696538-49C1-572C-6F00-3FE58F8E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20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AAA03-2F33-58A5-A911-BC2F2593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DD202D-C909-0AA2-7898-6942E28C9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D25359-0E2C-267C-4396-EF08769A3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051F9B-3542-DDCC-FBB2-1746AFE26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32CA2B-E4AA-60C0-7048-2F963ECA2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04FCA2-982D-2AF3-03BB-9353435A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2D1430-1C2C-6FFF-11D8-BFF21E01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D7D2ED-5861-FBF3-EA97-0BABC805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0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06F03-9C4C-DF47-3A9E-95106AEC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43D9BC-CF34-55C0-548F-B253AAE0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12EC2C-BB4E-3B23-9F71-BC454DF3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4EFBDB-629A-7D1E-50B4-71DE4CCE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20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1B1268-76E5-B8F0-ACA8-3E0288B3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A665C7-5C0B-4AA2-AE91-BF2709A73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57D479-107B-628F-E130-5443E3B54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24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1B190-BEB8-5975-1A5B-5127FDE0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3C5C46-59AA-5A55-5E3D-10B27A10D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967805-39F9-69AA-2607-2F8CA0715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43B95D-F9B2-3294-0260-C0043784E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156B15-7DA6-8236-8835-B461B49F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0E0E79-695F-D00A-BA14-BE08E03F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9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964ED-77CD-124E-2B1B-518C869F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9FC574-1430-794D-6CFE-DD41AF95C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49D939-4BB5-4211-0E0B-FBFAEA2A0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E83C4B-46D9-9E18-3AC0-A29ED944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9425B-4421-AF11-59FC-C30A3503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4619A9-03CC-3997-DF71-BD1EFD83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7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95D53C-F05F-EC0D-CF87-2948D31D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C837C9-426F-91C6-BF9A-440E97032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D62717-7996-0546-312D-398D9D2A5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7AC3F3-E661-698B-0256-63CAF856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5DB14-0DE5-FBC3-B4FF-3D32256B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99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754979-643B-0946-D92C-6EBF77354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3F3405-416E-9A31-DD5B-59F771B0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29F25-0525-D43D-1848-4801974E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1BD561-AF18-A509-8F10-0E42BE90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7658E1-0596-EA99-AF95-3F94AAC9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60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744021-EBF3-252F-B20D-37DDD92B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273E2B-9BA7-6200-B35E-29CE814A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A52ABE-CB90-F7FD-E34F-899C2AEA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13EE9-D7BC-4C16-9E9F-2678EB25EBB9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B4EF5-0CE4-15E9-66B9-B7C3212DE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B5E87-1B60-845D-FC15-5D0291CC9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A6B06-EBB9-4AB2-8253-3C8E81554D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863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A48AB-3C46-1652-9BF6-B062F69DA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1122363"/>
            <a:ext cx="11323320" cy="2387600"/>
          </a:xfrm>
        </p:spPr>
        <p:txBody>
          <a:bodyPr>
            <a:noAutofit/>
          </a:bodyPr>
          <a:lstStyle/>
          <a:p>
            <a:r>
              <a:rPr lang="fr-FR" altLang="zh-CN" sz="4000" b="1" dirty="0"/>
              <a:t>Une étude temporelle et spatiale de la dynamique du marché Airbnb et des comportements des hôtes à l’approche des Jeux Olympiques 2024 à Paris</a:t>
            </a:r>
            <a:endParaRPr lang="zh-CN" altLang="zh-CN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0ECDD0-9BFA-B250-1875-1C3B1542C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7160"/>
            <a:ext cx="9144000" cy="1310640"/>
          </a:xfrm>
        </p:spPr>
        <p:txBody>
          <a:bodyPr/>
          <a:lstStyle/>
          <a:p>
            <a:r>
              <a:rPr lang="fr-FR" altLang="zh-CN" dirty="0"/>
              <a:t>Ye LIU M2HN</a:t>
            </a:r>
          </a:p>
          <a:p>
            <a:r>
              <a:rPr lang="fr-FR" altLang="zh-CN" dirty="0"/>
              <a:t>Projet de l’Humanité numérique spatialisée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667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CF644-AA00-E9ED-5FEA-ED5B5AA6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Problématique et hypothèses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C3B6B0-4066-5F28-47C5-B60EA5427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altLang="zh-CN" dirty="0"/>
              <a:t>Problématique :</a:t>
            </a:r>
          </a:p>
          <a:p>
            <a:pPr marL="0" indent="0">
              <a:buNone/>
            </a:pPr>
            <a:r>
              <a:rPr lang="fr-FR" altLang="zh-CN" dirty="0"/>
              <a:t>Comment l’approche des Jeux Olympiques de Paris 2024 a-t-elle influencé le marché d’Airbnb à Paris et les stratégies des hôtes ? </a:t>
            </a:r>
            <a:endParaRPr lang="zh-CN" altLang="zh-CN" dirty="0"/>
          </a:p>
          <a:p>
            <a:pPr marL="0" indent="0">
              <a:buNone/>
            </a:pPr>
            <a:r>
              <a:rPr lang="fr-FR" altLang="zh-CN" dirty="0"/>
              <a:t> </a:t>
            </a:r>
          </a:p>
          <a:p>
            <a:r>
              <a:rPr lang="fr-FR" altLang="zh-CN" dirty="0"/>
              <a:t>H1: JO fait </a:t>
            </a:r>
            <a:r>
              <a:rPr lang="fr-FR" altLang="zh-CN" dirty="0" err="1"/>
              <a:t>augementer</a:t>
            </a:r>
            <a:r>
              <a:rPr lang="fr-FR" altLang="zh-CN" dirty="0"/>
              <a:t> le nombre d’hôtes, le prix d’annonce et la disponibilité. </a:t>
            </a:r>
          </a:p>
          <a:p>
            <a:r>
              <a:rPr lang="fr-FR" altLang="zh-CN" dirty="0"/>
              <a:t>H2 : </a:t>
            </a:r>
            <a:r>
              <a:rPr lang="zh-CN" altLang="zh-CN" dirty="0"/>
              <a:t> </a:t>
            </a:r>
            <a:r>
              <a:rPr lang="fr-FR" altLang="zh-CN" dirty="0"/>
              <a:t>Les comportements des hôtes, notamment l’entrée sur le marché et les types de changements observés, varient selon les territoires parisiens.</a:t>
            </a:r>
          </a:p>
          <a:p>
            <a:r>
              <a:rPr lang="fr-FR" altLang="zh-CN" dirty="0"/>
              <a:t>H3 : Les Jeux Olympiques sont mobilisés comme argument dans les descriptions, en particulier à proximité des sites olympiques, afin d’attirer des voyageurs potentiels.</a:t>
            </a:r>
          </a:p>
        </p:txBody>
      </p:sp>
    </p:spTree>
    <p:extLst>
      <p:ext uri="{BB962C8B-B14F-4D97-AF65-F5344CB8AC3E}">
        <p14:creationId xmlns:p14="http://schemas.microsoft.com/office/powerpoint/2010/main" val="207251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A5199-B948-6F75-AB7B-C5CDCA23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Partie 1 : impact global -Densité</a:t>
            </a:r>
            <a:endParaRPr lang="zh-CN" altLang="en-US" dirty="0"/>
          </a:p>
        </p:txBody>
      </p:sp>
      <p:pic>
        <p:nvPicPr>
          <p:cNvPr id="4" name="内容占位符 3" descr="地图&#10;&#10;AI 生成的内容可能不正确。">
            <a:extLst>
              <a:ext uri="{FF2B5EF4-FFF2-40B4-BE49-F238E27FC236}">
                <a16:creationId xmlns:a16="http://schemas.microsoft.com/office/drawing/2014/main" id="{7F6FDF4E-1EA9-A378-5AC8-F21B8B9F7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7364" y="1822175"/>
            <a:ext cx="10515600" cy="2252346"/>
          </a:xfrm>
          <a:prstGeom prst="rect">
            <a:avLst/>
          </a:prstGeom>
        </p:spPr>
      </p:pic>
      <p:sp>
        <p:nvSpPr>
          <p:cNvPr id="8" name="内容占位符 5">
            <a:extLst>
              <a:ext uri="{FF2B5EF4-FFF2-40B4-BE49-F238E27FC236}">
                <a16:creationId xmlns:a16="http://schemas.microsoft.com/office/drawing/2014/main" id="{B851B3A8-7C1C-FA96-1FD4-A054148A8438}"/>
              </a:ext>
            </a:extLst>
          </p:cNvPr>
          <p:cNvSpPr txBox="1">
            <a:spLocks/>
          </p:cNvSpPr>
          <p:nvPr/>
        </p:nvSpPr>
        <p:spPr>
          <a:xfrm>
            <a:off x="838200" y="4206008"/>
            <a:ext cx="10515600" cy="22523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dirty="0"/>
              <a:t>Total : </a:t>
            </a:r>
            <a:r>
              <a:rPr lang="en-US" altLang="zh-CN" dirty="0"/>
              <a:t>40865			62738				48064</a:t>
            </a:r>
          </a:p>
          <a:p>
            <a:r>
              <a:rPr lang="fr-FR" altLang="zh-CN" dirty="0"/>
              <a:t>Augmente notablement en juin et descend au niveau de mars en septembre</a:t>
            </a:r>
            <a:endParaRPr lang="zh-CN" altLang="en-US" dirty="0"/>
          </a:p>
          <a:p>
            <a:r>
              <a:rPr lang="fr-FR" altLang="zh-CN" dirty="0"/>
              <a:t>L’entrée dans le marché est un phénomène intense et temporaire, à cause de JO.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679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75CA3-5B90-CC14-A07A-F80134D4B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Prix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F83BCA-8D5A-90CF-67CD-5FE1EC34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66245"/>
            <a:ext cx="10515600" cy="1910717"/>
          </a:xfrm>
        </p:spPr>
        <p:txBody>
          <a:bodyPr/>
          <a:lstStyle/>
          <a:p>
            <a:r>
              <a:rPr lang="fr-FR" altLang="zh-CN" dirty="0"/>
              <a:t>Le prix augmente pendant JO, surtout dans 16</a:t>
            </a:r>
            <a:r>
              <a:rPr lang="fr-FR" altLang="zh-CN" baseline="30000" dirty="0"/>
              <a:t>e</a:t>
            </a:r>
            <a:r>
              <a:rPr lang="fr-FR" altLang="zh-CN" dirty="0"/>
              <a:t> </a:t>
            </a:r>
            <a:r>
              <a:rPr lang="fr-FR" altLang="zh-CN" dirty="0" err="1"/>
              <a:t>arrond</a:t>
            </a:r>
            <a:r>
              <a:rPr lang="fr-FR" altLang="zh-CN" dirty="0"/>
              <a:t>, la montée dépasse 100 euros par nuit.</a:t>
            </a:r>
          </a:p>
          <a:p>
            <a:endParaRPr lang="zh-CN" altLang="en-US" dirty="0"/>
          </a:p>
        </p:txBody>
      </p:sp>
      <p:pic>
        <p:nvPicPr>
          <p:cNvPr id="7" name="图片 6" descr="地图&#10;&#10;AI 生成的内容可能不正确。">
            <a:extLst>
              <a:ext uri="{FF2B5EF4-FFF2-40B4-BE49-F238E27FC236}">
                <a16:creationId xmlns:a16="http://schemas.microsoft.com/office/drawing/2014/main" id="{2FD32D2A-6F5E-C34D-129D-351178F39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716850" cy="230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8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3133B-4AFA-6DBE-E0B4-EE0C71FE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Disponibilité 90</a:t>
            </a:r>
            <a:endParaRPr lang="zh-CN" altLang="en-US" dirty="0"/>
          </a:p>
        </p:txBody>
      </p:sp>
      <p:pic>
        <p:nvPicPr>
          <p:cNvPr id="4" name="内容占位符 3" descr="图片包含 图表&#10;&#10;AI 生成的内容可能不正确。">
            <a:extLst>
              <a:ext uri="{FF2B5EF4-FFF2-40B4-BE49-F238E27FC236}">
                <a16:creationId xmlns:a16="http://schemas.microsoft.com/office/drawing/2014/main" id="{9B55ABD6-A2F5-9664-8CFD-21CD7692E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1029"/>
            <a:ext cx="10515600" cy="2273453"/>
          </a:xfrm>
          <a:prstGeom prst="rect">
            <a:avLst/>
          </a:prstGeom>
        </p:spPr>
      </p:pic>
      <p:sp>
        <p:nvSpPr>
          <p:cNvPr id="5" name="内容占位符 5">
            <a:extLst>
              <a:ext uri="{FF2B5EF4-FFF2-40B4-BE49-F238E27FC236}">
                <a16:creationId xmlns:a16="http://schemas.microsoft.com/office/drawing/2014/main" id="{B539579E-9C45-7009-F2F1-0251494D9E3B}"/>
              </a:ext>
            </a:extLst>
          </p:cNvPr>
          <p:cNvSpPr txBox="1">
            <a:spLocks/>
          </p:cNvSpPr>
          <p:nvPr/>
        </p:nvSpPr>
        <p:spPr>
          <a:xfrm>
            <a:off x="838200" y="4266245"/>
            <a:ext cx="10515600" cy="191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dirty="0"/>
              <a:t>La disponibilité 90 augmente de 10jours environ pendant JO, les hôtes se préparent à accueillir les voyageurs, </a:t>
            </a:r>
          </a:p>
          <a:p>
            <a:r>
              <a:rPr lang="fr-FR" altLang="zh-CN" dirty="0"/>
              <a:t>Elle se stabilise après JO.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6192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C869E-7990-2019-B87B-998BD29D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Partie 2 : comportement marché des hôtes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513EAC-3933-0456-DE2E-5FE7A9D41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6880" cy="4667250"/>
          </a:xfrm>
        </p:spPr>
        <p:txBody>
          <a:bodyPr>
            <a:normAutofit/>
          </a:bodyPr>
          <a:lstStyle/>
          <a:p>
            <a:r>
              <a:rPr lang="fr-FR" altLang="zh-CN" dirty="0"/>
              <a:t>Type des hôtes :</a:t>
            </a:r>
          </a:p>
          <a:p>
            <a:pPr marL="0" indent="0">
              <a:buNone/>
            </a:pPr>
            <a:r>
              <a:rPr lang="fr-FR" altLang="zh-CN" dirty="0"/>
              <a:t>- Hôtes stables</a:t>
            </a:r>
          </a:p>
          <a:p>
            <a:pPr>
              <a:buFontTx/>
              <a:buChar char="-"/>
            </a:pPr>
            <a:r>
              <a:rPr lang="fr-FR" altLang="zh-CN" dirty="0"/>
              <a:t>Hôtes en changement :</a:t>
            </a:r>
          </a:p>
          <a:p>
            <a:pPr marL="0" indent="0">
              <a:buNone/>
            </a:pPr>
            <a:r>
              <a:rPr lang="fr-FR" altLang="zh-CN" sz="2400" dirty="0"/>
              <a:t>Nouveaux hôtes </a:t>
            </a:r>
          </a:p>
          <a:p>
            <a:pPr marL="0" indent="0">
              <a:buNone/>
            </a:pPr>
            <a:r>
              <a:rPr lang="fr-FR" altLang="zh-CN" sz="2400" dirty="0"/>
              <a:t>Hôtes qui </a:t>
            </a:r>
            <a:r>
              <a:rPr lang="fr-FR" altLang="zh-CN" sz="2400" dirty="0" err="1"/>
              <a:t>reviennt</a:t>
            </a:r>
            <a:r>
              <a:rPr lang="fr-FR" altLang="zh-CN" sz="2400" dirty="0"/>
              <a:t> pendant Q2</a:t>
            </a:r>
          </a:p>
          <a:p>
            <a:pPr marL="0" indent="0">
              <a:buNone/>
            </a:pPr>
            <a:r>
              <a:rPr lang="fr-FR" altLang="zh-CN" sz="2400" dirty="0"/>
              <a:t>Hôtes qui </a:t>
            </a:r>
            <a:r>
              <a:rPr lang="fr-FR" altLang="zh-CN" sz="2400" dirty="0" err="1"/>
              <a:t>reouvrent</a:t>
            </a:r>
            <a:r>
              <a:rPr lang="fr-FR" altLang="zh-CN" sz="2400" dirty="0"/>
              <a:t> leur appartement pour JO</a:t>
            </a:r>
          </a:p>
          <a:p>
            <a:pPr>
              <a:buFontTx/>
              <a:buChar char="-"/>
            </a:pPr>
            <a:endParaRPr lang="fr-FR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FF8962-CF03-A435-8C61-EAF9D1FC7D0B}"/>
              </a:ext>
            </a:extLst>
          </p:cNvPr>
          <p:cNvSpPr txBox="1"/>
          <p:nvPr/>
        </p:nvSpPr>
        <p:spPr>
          <a:xfrm>
            <a:off x="6355080" y="1690688"/>
            <a:ext cx="5593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altLang="zh-CN" sz="2400" dirty="0"/>
              <a:t>Sites olympiques principaux :</a:t>
            </a:r>
          </a:p>
          <a:p>
            <a:pPr marL="0" indent="0">
              <a:buNone/>
            </a:pPr>
            <a:endParaRPr lang="fr-FR" altLang="zh-CN" sz="2400" dirty="0"/>
          </a:p>
          <a:p>
            <a:pPr marL="0" indent="0">
              <a:buNone/>
            </a:pPr>
            <a:r>
              <a:rPr lang="fr-FR" altLang="zh-CN" sz="2400" dirty="0"/>
              <a:t>Stade de France, </a:t>
            </a:r>
          </a:p>
          <a:p>
            <a:pPr marL="0" indent="0">
              <a:buNone/>
            </a:pPr>
            <a:r>
              <a:rPr lang="fr-FR" altLang="zh-CN" sz="2400" dirty="0"/>
              <a:t>Paris </a:t>
            </a:r>
            <a:r>
              <a:rPr lang="fr-FR" altLang="zh-CN" sz="2400" dirty="0" err="1"/>
              <a:t>Aquatic</a:t>
            </a:r>
            <a:r>
              <a:rPr lang="fr-FR" altLang="zh-CN" sz="2400" dirty="0"/>
              <a:t> Centre, </a:t>
            </a:r>
          </a:p>
          <a:p>
            <a:pPr marL="0" indent="0">
              <a:buNone/>
            </a:pPr>
            <a:r>
              <a:rPr lang="fr-FR" altLang="zh-CN" sz="2400" dirty="0"/>
              <a:t>Porte de La Chapelle Arena, </a:t>
            </a:r>
          </a:p>
          <a:p>
            <a:pPr marL="0" indent="0">
              <a:buNone/>
            </a:pPr>
            <a:r>
              <a:rPr lang="fr-FR" altLang="zh-CN" sz="2400" dirty="0"/>
              <a:t>Paris La Défense Arena, </a:t>
            </a:r>
          </a:p>
          <a:p>
            <a:pPr marL="0" indent="0">
              <a:buNone/>
            </a:pPr>
            <a:r>
              <a:rPr lang="fr-FR" altLang="zh-CN" sz="2400" dirty="0"/>
              <a:t>Bercy Arena, </a:t>
            </a:r>
          </a:p>
          <a:p>
            <a:pPr marL="0" indent="0">
              <a:buNone/>
            </a:pPr>
            <a:r>
              <a:rPr lang="fr-FR" altLang="zh-CN" sz="2400" dirty="0"/>
              <a:t>Champ de Mars (Eiffel Tower area), </a:t>
            </a:r>
          </a:p>
          <a:p>
            <a:pPr marL="0" indent="0">
              <a:buNone/>
            </a:pPr>
            <a:r>
              <a:rPr lang="fr-FR" altLang="zh-CN" sz="2400" dirty="0"/>
              <a:t>Grand Palais, </a:t>
            </a:r>
          </a:p>
          <a:p>
            <a:pPr marL="0" indent="0">
              <a:buNone/>
            </a:pPr>
            <a:r>
              <a:rPr lang="fr-FR" altLang="zh-CN" sz="2400" dirty="0"/>
              <a:t>Les Invalides. </a:t>
            </a:r>
            <a:endParaRPr lang="zh-CN" altLang="zh-CN" sz="1800" dirty="0"/>
          </a:p>
        </p:txBody>
      </p:sp>
    </p:spTree>
    <p:extLst>
      <p:ext uri="{BB962C8B-B14F-4D97-AF65-F5344CB8AC3E}">
        <p14:creationId xmlns:p14="http://schemas.microsoft.com/office/powerpoint/2010/main" val="1154825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A6DA0-AFAF-031A-3FD6-B7541AEB8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7520" y="431958"/>
            <a:ext cx="4632960" cy="5994083"/>
          </a:xfrm>
        </p:spPr>
        <p:txBody>
          <a:bodyPr/>
          <a:lstStyle/>
          <a:p>
            <a:r>
              <a:rPr lang="fr-FR" altLang="zh-CN" dirty="0"/>
              <a:t>Le dynamique est notable dans tous les arrondissements, jusqu’à une moitié des hôtes pour certains d’entre eux.</a:t>
            </a:r>
          </a:p>
          <a:p>
            <a:endParaRPr lang="fr-FR" altLang="zh-CN" dirty="0"/>
          </a:p>
          <a:p>
            <a:r>
              <a:rPr lang="fr-FR" altLang="zh-CN" dirty="0"/>
              <a:t>Ils se trouvent surtout aux périphéries de Paris </a:t>
            </a:r>
          </a:p>
          <a:p>
            <a:endParaRPr lang="fr-FR" altLang="zh-CN" dirty="0"/>
          </a:p>
          <a:p>
            <a:r>
              <a:rPr lang="fr-FR" altLang="zh-CN" dirty="0"/>
              <a:t>Des concentrations observables autour des sites olympiques, dans les 17</a:t>
            </a:r>
            <a:r>
              <a:rPr lang="fr-FR" altLang="zh-CN" baseline="30000" dirty="0"/>
              <a:t>e</a:t>
            </a:r>
            <a:r>
              <a:rPr lang="fr-FR" altLang="zh-CN" dirty="0"/>
              <a:t> 18</a:t>
            </a:r>
            <a:r>
              <a:rPr lang="fr-FR" altLang="zh-CN" baseline="30000" dirty="0"/>
              <a:t>e</a:t>
            </a:r>
            <a:r>
              <a:rPr lang="fr-FR" altLang="zh-CN" dirty="0"/>
              <a:t>, 15</a:t>
            </a:r>
            <a:r>
              <a:rPr lang="fr-FR" altLang="zh-CN" baseline="30000" dirty="0"/>
              <a:t>e</a:t>
            </a:r>
            <a:r>
              <a:rPr lang="fr-FR" altLang="zh-CN" dirty="0"/>
              <a:t>, 16</a:t>
            </a:r>
            <a:r>
              <a:rPr lang="fr-FR" altLang="zh-CN" baseline="30000" dirty="0"/>
              <a:t>e</a:t>
            </a:r>
            <a:r>
              <a:rPr lang="fr-FR" altLang="zh-CN" dirty="0"/>
              <a:t> et 11</a:t>
            </a:r>
            <a:r>
              <a:rPr lang="fr-FR" altLang="zh-CN" baseline="30000" dirty="0"/>
              <a:t>e </a:t>
            </a:r>
            <a:r>
              <a:rPr lang="fr-FR" altLang="zh-CN" dirty="0"/>
              <a:t> arrondissements. </a:t>
            </a:r>
            <a:endParaRPr lang="zh-CN" altLang="en-US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A09E8248-21E0-4873-3170-2603621DB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958"/>
            <a:ext cx="6569797" cy="508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88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DE9CD-F9D6-4932-7BD8-B9BF2B2E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Hôtes nouveaux /réactifs VS hôtes qui modifient leur présentation de soi</a:t>
            </a:r>
            <a:endParaRPr lang="zh-CN" altLang="en-US" dirty="0"/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80C8DC36-AA27-8843-F1AF-49D0899AD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6880"/>
            <a:ext cx="10515600" cy="1171308"/>
          </a:xfrm>
        </p:spPr>
        <p:txBody>
          <a:bodyPr>
            <a:normAutofit fontScale="70000" lnSpcReduction="20000"/>
          </a:bodyPr>
          <a:lstStyle/>
          <a:p>
            <a:r>
              <a:rPr lang="fr-FR" altLang="zh-CN" dirty="0"/>
              <a:t>Les hôtes nouveaux ou réactifs se trouvent plutôt en périphérie de Paris, alors que les hôtes ont adapté leurs stratégies de communication sont plus présent au centre</a:t>
            </a:r>
          </a:p>
          <a:p>
            <a:r>
              <a:rPr lang="fr-FR" altLang="zh-CN" dirty="0"/>
              <a:t>15</a:t>
            </a:r>
            <a:r>
              <a:rPr lang="fr-FR" altLang="zh-CN" baseline="30000" dirty="0"/>
              <a:t>e</a:t>
            </a:r>
            <a:r>
              <a:rPr lang="fr-FR" altLang="zh-CN" dirty="0"/>
              <a:t>, 16</a:t>
            </a:r>
            <a:r>
              <a:rPr lang="fr-FR" altLang="zh-CN" baseline="30000" dirty="0"/>
              <a:t>e</a:t>
            </a:r>
            <a:r>
              <a:rPr lang="fr-FR" altLang="zh-CN" dirty="0"/>
              <a:t> arrondissements sont des zones mixtes : beaucoup de nouveaux hôtes actifs et nouvelles images de soi.</a:t>
            </a:r>
            <a:endParaRPr lang="zh-CN" altLang="en-US" dirty="0"/>
          </a:p>
        </p:txBody>
      </p:sp>
      <p:pic>
        <p:nvPicPr>
          <p:cNvPr id="15" name="图片 14" descr="图示&#10;&#10;AI 生成的内容可能不正确。">
            <a:extLst>
              <a:ext uri="{FF2B5EF4-FFF2-40B4-BE49-F238E27FC236}">
                <a16:creationId xmlns:a16="http://schemas.microsoft.com/office/drawing/2014/main" id="{2DAAA1D0-F5AF-F330-5370-ADFA433D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655" y="1536433"/>
            <a:ext cx="4980793" cy="3631828"/>
          </a:xfrm>
          <a:prstGeom prst="rect">
            <a:avLst/>
          </a:prstGeom>
        </p:spPr>
      </p:pic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BC0CD0D9-C483-41DD-B91D-354EB0178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36432"/>
            <a:ext cx="5015379" cy="363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01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CA27A-5CE2-A69D-7C53-FAE9BB2A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Partie 3: stratégies de communication</a:t>
            </a:r>
            <a:endParaRPr lang="zh-CN" altLang="en-US" dirty="0"/>
          </a:p>
        </p:txBody>
      </p:sp>
      <p:pic>
        <p:nvPicPr>
          <p:cNvPr id="4" name="内容占位符 3" descr="地图&#10;&#10;AI 生成的内容可能不正确。">
            <a:extLst>
              <a:ext uri="{FF2B5EF4-FFF2-40B4-BE49-F238E27FC236}">
                <a16:creationId xmlns:a16="http://schemas.microsoft.com/office/drawing/2014/main" id="{17D17170-88B7-8FF0-6472-D9C873A25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61292" y="1690688"/>
            <a:ext cx="13153292" cy="3140544"/>
          </a:xfrm>
          <a:prstGeom prst="rect">
            <a:avLst/>
          </a:prstGeom>
        </p:spPr>
      </p:pic>
      <p:sp>
        <p:nvSpPr>
          <p:cNvPr id="5" name="内容占位符 5">
            <a:extLst>
              <a:ext uri="{FF2B5EF4-FFF2-40B4-BE49-F238E27FC236}">
                <a16:creationId xmlns:a16="http://schemas.microsoft.com/office/drawing/2014/main" id="{8AF4B272-0A77-CAD8-CD61-FE2B85D1404B}"/>
              </a:ext>
            </a:extLst>
          </p:cNvPr>
          <p:cNvSpPr txBox="1">
            <a:spLocks/>
          </p:cNvSpPr>
          <p:nvPr/>
        </p:nvSpPr>
        <p:spPr>
          <a:xfrm>
            <a:off x="838200" y="5516880"/>
            <a:ext cx="10515600" cy="1171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96A5BA-80C1-634E-226E-2CE2445337A8}"/>
              </a:ext>
            </a:extLst>
          </p:cNvPr>
          <p:cNvSpPr txBox="1">
            <a:spLocks/>
          </p:cNvSpPr>
          <p:nvPr/>
        </p:nvSpPr>
        <p:spPr>
          <a:xfrm>
            <a:off x="838200" y="5167312"/>
            <a:ext cx="10515600" cy="169068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dirty="0"/>
              <a:t>La proportion des hôtes qui mentionne JO dans leurs descriptions augmente pendant JO, le nombre absolu double, surtout dans ceux qui se situe autour des sites olympiques et en </a:t>
            </a:r>
            <a:r>
              <a:rPr lang="fr-FR" altLang="zh-CN" dirty="0" err="1"/>
              <a:t>péripérie</a:t>
            </a:r>
            <a:r>
              <a:rPr lang="fr-FR" altLang="zh-CN" dirty="0"/>
              <a:t>. Les nouveaux et réactifs hôtes veulent bien profiter de l’événement.</a:t>
            </a:r>
          </a:p>
          <a:p>
            <a:r>
              <a:rPr lang="fr-FR" altLang="zh-CN" dirty="0"/>
              <a:t>Mais même si JO est un événement spectaculaire, la proportion reste faible, et elle tombe immédiatement après JO.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40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地图&#10;&#10;AI 生成的内容可能不正确。">
            <a:extLst>
              <a:ext uri="{FF2B5EF4-FFF2-40B4-BE49-F238E27FC236}">
                <a16:creationId xmlns:a16="http://schemas.microsoft.com/office/drawing/2014/main" id="{945349E2-6691-2E4A-E4CF-8767A3173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82763" y="803652"/>
            <a:ext cx="13174763" cy="3051507"/>
          </a:xfrm>
          <a:prstGeom prst="rect">
            <a:avLst/>
          </a:prstGeom>
        </p:spPr>
      </p:pic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851149A-B6EE-9AC7-FECD-5A0B594C386C}"/>
              </a:ext>
            </a:extLst>
          </p:cNvPr>
          <p:cNvSpPr txBox="1">
            <a:spLocks/>
          </p:cNvSpPr>
          <p:nvPr/>
        </p:nvSpPr>
        <p:spPr>
          <a:xfrm>
            <a:off x="838200" y="4213185"/>
            <a:ext cx="10515600" cy="212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dirty="0"/>
              <a:t>En comparaison, mentionner des sites touristiques pour attirer les voyageurs potentiels est une stratégie récurrente, la proportion s’élève au 80% dans plusieurs arrondissements.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456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C19E2-C6EF-647E-2837-610559E6C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Conclusion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81674-73CE-5F66-4505-EA1CF2123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altLang="zh-CN" dirty="0"/>
              <a:t>JO fait augmente temporairement le nombre d’hôtes, le prix moyen et la disponibilité moyenne.</a:t>
            </a:r>
          </a:p>
          <a:p>
            <a:endParaRPr lang="fr-FR" altLang="zh-CN" dirty="0"/>
          </a:p>
          <a:p>
            <a:r>
              <a:rPr lang="fr-FR" altLang="zh-CN" dirty="0"/>
              <a:t>Les hôtes en changement sont majoritairement les hôtes nouveaux ou réactifs, entre</a:t>
            </a:r>
            <a:r>
              <a:rPr lang="en-US" altLang="zh-CN" dirty="0" err="1"/>
              <a:t>nt</a:t>
            </a:r>
            <a:r>
              <a:rPr lang="fr-FR" altLang="zh-CN" dirty="0"/>
              <a:t> en </a:t>
            </a:r>
            <a:r>
              <a:rPr lang="fr-FR" altLang="zh-CN" dirty="0" err="1"/>
              <a:t>péripérie</a:t>
            </a:r>
            <a:r>
              <a:rPr lang="fr-FR" altLang="zh-CN" dirty="0"/>
              <a:t> de Paris, alors que les hôtes qui </a:t>
            </a:r>
            <a:r>
              <a:rPr lang="en-US" altLang="zh-CN" dirty="0" err="1"/>
              <a:t>ont</a:t>
            </a:r>
            <a:r>
              <a:rPr lang="en-US" altLang="zh-CN" dirty="0"/>
              <a:t> </a:t>
            </a:r>
            <a:r>
              <a:rPr lang="fr-FR" altLang="zh-CN" dirty="0"/>
              <a:t>adapté leurs </a:t>
            </a:r>
            <a:r>
              <a:rPr lang="fr-FR" altLang="zh-CN" dirty="0" err="1"/>
              <a:t>srtatégies</a:t>
            </a:r>
            <a:r>
              <a:rPr lang="fr-FR" altLang="zh-CN" dirty="0"/>
              <a:t> de communication sont plus présents dans des zones centrales.</a:t>
            </a:r>
          </a:p>
          <a:p>
            <a:endParaRPr lang="fr-FR" altLang="zh-CN" dirty="0"/>
          </a:p>
          <a:p>
            <a:r>
              <a:rPr lang="fr-FR" altLang="zh-CN" dirty="0"/>
              <a:t>Les hôtes ‘mentionnent JO’ pour attirer les voyageurs potentiels, mais cette stratégie s’avère temporaire et sous-estimés, en comparaison de ‘mentionner des sites touristiques’. </a:t>
            </a:r>
          </a:p>
        </p:txBody>
      </p:sp>
    </p:spTree>
    <p:extLst>
      <p:ext uri="{BB962C8B-B14F-4D97-AF65-F5344CB8AC3E}">
        <p14:creationId xmlns:p14="http://schemas.microsoft.com/office/powerpoint/2010/main" val="404527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583</Words>
  <Application>Microsoft Office PowerPoint</Application>
  <PresentationFormat>宽屏</PresentationFormat>
  <Paragraphs>55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Une étude temporelle et spatiale de la dynamique du marché Airbnb et des comportements des hôtes à l’approche des Jeux Olympiques 2024 à Paris</vt:lpstr>
      <vt:lpstr>Problématique et hypothèses</vt:lpstr>
      <vt:lpstr>Partie 1 : impact global -Densité</vt:lpstr>
      <vt:lpstr>Prix</vt:lpstr>
      <vt:lpstr>Disponibilité 90</vt:lpstr>
      <vt:lpstr>Partie 2 : comportement marché des hôtes </vt:lpstr>
      <vt:lpstr>PowerPoint 演示文稿</vt:lpstr>
      <vt:lpstr>Hôtes nouveaux /réactifs VS hôtes qui modifient leur présentation de soi</vt:lpstr>
      <vt:lpstr>Partie 3: stratégies de communication</vt:lpstr>
      <vt:lpstr>PowerPoint 演示文稿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LIU</dc:creator>
  <cp:lastModifiedBy>Ye LIU</cp:lastModifiedBy>
  <cp:revision>37</cp:revision>
  <dcterms:created xsi:type="dcterms:W3CDTF">2026-01-06T09:48:15Z</dcterms:created>
  <dcterms:modified xsi:type="dcterms:W3CDTF">2026-01-06T15:14:33Z</dcterms:modified>
</cp:coreProperties>
</file>